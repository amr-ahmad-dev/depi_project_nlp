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1F5F9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</a:rPr>
              <a:t>Adaptive Accessibility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</a:rPr>
              <a:t>Communication System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100584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DD4BF"/>
                </a:solidFill>
              </a:rPr>
              <a:t>The communication path adapts to the people communicating.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43251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Person 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920240" y="4572000"/>
            <a:ext cx="6400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51760" y="402336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432511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4884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Speech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840480" y="4572000"/>
            <a:ext cx="45720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389120" y="3977640"/>
            <a:ext cx="1463040" cy="1188720"/>
          </a:xfrm>
          <a:prstGeom prst="hexagon">
            <a:avLst/>
          </a:prstGeom>
          <a:solidFill>
            <a:srgbClr val="2DD4B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43251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69080" y="521208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Adaptive router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943600" y="4572000"/>
            <a:ext cx="27432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309360" y="4069080"/>
            <a:ext cx="1463040" cy="1005840"/>
          </a:xfrm>
          <a:prstGeom prst="roundRect">
            <a:avLst>
              <a:gd name="adj" fmla="val 7273"/>
            </a:avLst>
          </a:prstGeom>
          <a:ln w="22225">
            <a:solidFill>
              <a:srgbClr val="B49C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325112"/>
            <a:ext cx="493776" cy="4937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98932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Speech recognition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863840" y="4572000"/>
            <a:ext cx="45720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8412480" y="402336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4325112"/>
            <a:ext cx="493776" cy="4937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90956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Text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9601200" y="4572000"/>
            <a:ext cx="6400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10332720" y="402336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472" y="4325112"/>
            <a:ext cx="493776" cy="4937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2980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Person B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1C6"/>
                </a:solidFill>
              </a:rPr>
              <a:t>Early-stage project plan</a:t>
            </a:r>
            <a:endParaRPr lang="en-US" sz="1600" dirty="0"/>
          </a:p>
        </p:txBody>
      </p:sp>
      <p:sp>
        <p:nvSpPr>
          <p:cNvPr id="28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The same communication path does not work for everyone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9456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496312"/>
            <a:ext cx="493776" cy="49377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292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Sender speaks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194560" y="2743200"/>
            <a:ext cx="173736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023360" y="219456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49631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Speech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212080" y="2743200"/>
            <a:ext cx="173736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7040880" y="2194560"/>
            <a:ext cx="1097280" cy="1097280"/>
          </a:xfrm>
          <a:prstGeom prst="ellipse">
            <a:avLst/>
          </a:prstGeom>
          <a:ln w="22225">
            <a:solidFill>
              <a:srgbClr val="A3B1C6"/>
            </a:solidFill>
            <a:prstDash val="dash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249631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3796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Fixed representation: text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8229600" y="2743200"/>
            <a:ext cx="173736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10058400" y="219456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249631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555480" y="3337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Receiver needs audio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The sender and receiver may require different modalities.</a:t>
            </a:r>
            <a:endParaRPr lang="en-US" sz="28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3B1C6"/>
                </a:solidFill>
              </a:rPr>
              <a:t>Senders: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A3B1C6"/>
                </a:solidFill>
              </a:rPr>
              <a:t>speech · text · text with errors · sign language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A3B1C6"/>
                </a:solidFill>
              </a:rPr>
              <a:t>Receivers: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A3B1C6"/>
                </a:solidFill>
              </a:rPr>
              <a:t>text · audio · simplified 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Three example pathways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45920"/>
            <a:ext cx="548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377440" y="146304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192" y="1764792"/>
            <a:ext cx="493776" cy="4937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87452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Speech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566160" y="2011680"/>
            <a:ext cx="20116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669280" y="1508760"/>
            <a:ext cx="1463040" cy="1005840"/>
          </a:xfrm>
          <a:prstGeom prst="roundRect">
            <a:avLst>
              <a:gd name="adj" fmla="val 7273"/>
            </a:avLst>
          </a:prstGeom>
          <a:ln w="22225">
            <a:solidFill>
              <a:srgbClr val="B49C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76479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92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Speech recognition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223760" y="2011680"/>
            <a:ext cx="20116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9326880" y="146304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176479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2396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Text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</a:rPr>
              <a:t>B</a:t>
            </a:r>
            <a:endParaRPr lang="en-US" sz="3600" dirty="0"/>
          </a:p>
        </p:txBody>
      </p:sp>
      <p:sp>
        <p:nvSpPr>
          <p:cNvPr id="21" name="Shape 16"/>
          <p:cNvSpPr/>
          <p:nvPr/>
        </p:nvSpPr>
        <p:spPr>
          <a:xfrm>
            <a:off x="2377440" y="301752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3319272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87452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Text with errors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3566160" y="3566160"/>
            <a:ext cx="20116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669280" y="3063240"/>
            <a:ext cx="1463040" cy="1005840"/>
          </a:xfrm>
          <a:prstGeom prst="roundRect">
            <a:avLst>
              <a:gd name="adj" fmla="val 7273"/>
            </a:avLst>
          </a:prstGeom>
          <a:ln w="22225">
            <a:solidFill>
              <a:srgbClr val="B49C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3319272"/>
            <a:ext cx="493776" cy="4937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Language processing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7223760" y="3566160"/>
            <a:ext cx="20116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9326880" y="301752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632" y="3319272"/>
            <a:ext cx="493776" cy="49377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8239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Simplified text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40080" y="4754880"/>
            <a:ext cx="548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</a:rPr>
              <a:t>C</a:t>
            </a:r>
            <a:endParaRPr lang="en-US" sz="3600" dirty="0"/>
          </a:p>
        </p:txBody>
      </p:sp>
      <p:sp>
        <p:nvSpPr>
          <p:cNvPr id="33" name="Shape 25"/>
          <p:cNvSpPr/>
          <p:nvPr/>
        </p:nvSpPr>
        <p:spPr>
          <a:xfrm>
            <a:off x="2377440" y="457200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9192" y="4873752"/>
            <a:ext cx="493776" cy="49377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874520" y="571500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Sign language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3566160" y="5120640"/>
            <a:ext cx="20116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5669280" y="4617720"/>
            <a:ext cx="1463040" cy="1005840"/>
          </a:xfrm>
          <a:prstGeom prst="roundRect">
            <a:avLst>
              <a:gd name="adj" fmla="val 7273"/>
            </a:avLst>
          </a:prstGeom>
          <a:ln w="22225">
            <a:solidFill>
              <a:srgbClr val="B49CFF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4873752"/>
            <a:ext cx="493776" cy="49377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5349240" y="571500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Computer vision</a:t>
            </a:r>
            <a:endParaRPr lang="en-US" sz="1800" dirty="0"/>
          </a:p>
        </p:txBody>
      </p:sp>
      <p:sp>
        <p:nvSpPr>
          <p:cNvPr id="40" name="Shape 30"/>
          <p:cNvSpPr/>
          <p:nvPr/>
        </p:nvSpPr>
        <p:spPr>
          <a:xfrm>
            <a:off x="7223760" y="5120640"/>
            <a:ext cx="20116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41" name="Shape 31"/>
          <p:cNvSpPr/>
          <p:nvPr/>
        </p:nvSpPr>
        <p:spPr>
          <a:xfrm>
            <a:off x="9326880" y="457200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8632" y="4873752"/>
            <a:ext cx="493776" cy="49377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823960" y="571500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Text or other output</a:t>
            </a:r>
            <a:endParaRPr lang="en-US" sz="1800" dirty="0"/>
          </a:p>
        </p:txBody>
      </p:sp>
      <p:sp>
        <p:nvSpPr>
          <p:cNvPr id="44" name="Text 33"/>
          <p:cNvSpPr txBox="1"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1C6"/>
                </a:solidFill>
              </a:rPr>
              <a:t>Illustrative examples of the architecture, not implemented results.</a:t>
            </a:r>
            <a:endParaRPr lang="en-US" sz="18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Adapt the path, not the person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B1C6"/>
                </a:solidFill>
              </a:rPr>
              <a:t>BEFORE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AFTER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28800" y="192024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2221992"/>
            <a:ext cx="493776" cy="49377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Person A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017520" y="2468880"/>
            <a:ext cx="228600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394960" y="1920240"/>
            <a:ext cx="1097280" cy="1097280"/>
          </a:xfrm>
          <a:prstGeom prst="ellipse">
            <a:avLst/>
          </a:prstGeom>
          <a:ln w="22225">
            <a:solidFill>
              <a:srgbClr val="A3B1C6"/>
            </a:solidFill>
            <a:prstDash val="dash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221992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9204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One fixed path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583680" y="2468880"/>
            <a:ext cx="228600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961120" y="192024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222199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58200" y="30632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Person B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40080" y="361188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1188720" y="448056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4782312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Persons A and B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2377440" y="5029200"/>
            <a:ext cx="96012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3429000" y="448056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4782312"/>
            <a:ext cx="493776" cy="49377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92608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Profiles and preferences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4617720" y="5029200"/>
            <a:ext cx="77724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5486400" y="4434840"/>
            <a:ext cx="1463040" cy="1188720"/>
          </a:xfrm>
          <a:prstGeom prst="hexagon">
            <a:avLst/>
          </a:prstGeom>
          <a:solidFill>
            <a:srgbClr val="2DD4B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4782312"/>
            <a:ext cx="493776" cy="4937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166360" y="566928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Adaptive router</a:t>
            </a:r>
            <a:endParaRPr lang="en-US" sz="1800" dirty="0"/>
          </a:p>
        </p:txBody>
      </p:sp>
      <p:sp>
        <p:nvSpPr>
          <p:cNvPr id="33" name="Shape 25"/>
          <p:cNvSpPr/>
          <p:nvPr/>
        </p:nvSpPr>
        <p:spPr>
          <a:xfrm>
            <a:off x="7040880" y="5029200"/>
            <a:ext cx="59436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7726680" y="4526280"/>
            <a:ext cx="1463040" cy="1005840"/>
          </a:xfrm>
          <a:prstGeom prst="roundRect">
            <a:avLst>
              <a:gd name="adj" fmla="val 7273"/>
            </a:avLst>
          </a:prstGeom>
          <a:ln w="22225">
            <a:solidFill>
              <a:srgbClr val="B49CF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4782312"/>
            <a:ext cx="493776" cy="49377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40664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Required transformations</a:t>
            </a:r>
            <a:endParaRPr lang="en-US" sz="1800" dirty="0"/>
          </a:p>
        </p:txBody>
      </p:sp>
      <p:sp>
        <p:nvSpPr>
          <p:cNvPr id="37" name="Shape 28"/>
          <p:cNvSpPr/>
          <p:nvPr/>
        </p:nvSpPr>
        <p:spPr>
          <a:xfrm>
            <a:off x="9281160" y="5029200"/>
            <a:ext cx="77724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10149840" y="448056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1592" y="4782312"/>
            <a:ext cx="493776" cy="49377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646920" y="562356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Person B</a:t>
            </a:r>
            <a:endParaRPr lang="en-US" sz="1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Routing decides. Transformation converts.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ROUTING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What should we convert it into?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53035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Sender and receiver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Preferences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Accessibility requirements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Configuration and context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37760"/>
            <a:ext cx="5303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→ Required transformation pathway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0" cy="420624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9CFF"/>
                </a:solidFill>
              </a:rPr>
              <a:t>TRANSFORMATION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What can we convert?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60320"/>
            <a:ext cx="512064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Speech → Text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Sign → Text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Text → Speech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Text → Simplified text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Separate responsibilities, coordinated by the system.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4206240" cy="777240"/>
          </a:xfrm>
          <a:prstGeom prst="roundRect">
            <a:avLst>
              <a:gd name="adj" fmla="val 9412"/>
            </a:avLst>
          </a:prstGeom>
          <a:ln w="22225">
            <a:solidFill>
              <a:srgbClr val="A3B1C6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42062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Profiles, preferences, accessibility needs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847088"/>
            <a:ext cx="36576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463040"/>
            <a:ext cx="2651760" cy="777240"/>
          </a:xfrm>
          <a:prstGeom prst="roundRect">
            <a:avLst>
              <a:gd name="adj" fmla="val 9412"/>
            </a:avLst>
          </a:prstGeom>
          <a:ln w="22225">
            <a:solidFill>
              <a:srgbClr val="A3B1C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21208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Retrieved configuration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2240280"/>
            <a:ext cx="0" cy="685800"/>
          </a:xfrm>
          <a:prstGeom prst="line">
            <a:avLst/>
          </a:prstGeom>
          <a:noFill/>
          <a:ln w="38100">
            <a:solidFill>
              <a:srgbClr val="2DD4BF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319272"/>
            <a:ext cx="493776" cy="4937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Sender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828800" y="3566160"/>
            <a:ext cx="100584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926080" y="301752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3319272"/>
            <a:ext cx="493776" cy="49377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42316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Input modality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114800" y="3566160"/>
            <a:ext cx="160020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806440" y="2971800"/>
            <a:ext cx="1463040" cy="1188720"/>
          </a:xfrm>
          <a:prstGeom prst="hexagon">
            <a:avLst/>
          </a:prstGeom>
          <a:solidFill>
            <a:srgbClr val="2DD4B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319272"/>
            <a:ext cx="493776" cy="49377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486400" y="420624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</a:rPr>
              <a:t>Adaptive router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7360920" y="3566160"/>
            <a:ext cx="105156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8503920" y="3017520"/>
            <a:ext cx="1097280" cy="10972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3319272"/>
            <a:ext cx="493776" cy="49377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00100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Output modality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9692640" y="3566160"/>
            <a:ext cx="640080" cy="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10424160" y="3017520"/>
            <a:ext cx="1097280" cy="1097280"/>
          </a:xfrm>
          <a:prstGeom prst="ellipse">
            <a:avLst/>
          </a:prstGeom>
          <a:ln w="22225">
            <a:solidFill>
              <a:srgbClr val="F1F5F9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912" y="3319272"/>
            <a:ext cx="493776" cy="49377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921240" y="4160520"/>
            <a:ext cx="2103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Receiver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2743200" y="5029200"/>
            <a:ext cx="7589520" cy="1188720"/>
          </a:xfrm>
          <a:prstGeom prst="roundRect">
            <a:avLst>
              <a:gd name="adj" fmla="val 6154"/>
            </a:avLst>
          </a:prstGeom>
          <a:ln w="22225">
            <a:solidFill>
              <a:srgbClr val="B49C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2880360" y="5047488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9CFF"/>
                </a:solidFill>
              </a:rPr>
              <a:t>TRANSFORMATION LAYER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2880360" y="5440680"/>
            <a:ext cx="1737360" cy="685800"/>
          </a:xfrm>
          <a:prstGeom prst="roundRect">
            <a:avLst>
              <a:gd name="adj" fmla="val 10667"/>
            </a:avLst>
          </a:prstGeom>
          <a:ln w="15875">
            <a:solidFill>
              <a:srgbClr val="B49C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880360" y="544068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Computer vision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4709160" y="5440680"/>
            <a:ext cx="1737360" cy="685800"/>
          </a:xfrm>
          <a:prstGeom prst="roundRect">
            <a:avLst>
              <a:gd name="adj" fmla="val 10667"/>
            </a:avLst>
          </a:prstGeom>
          <a:ln w="15875">
            <a:solidFill>
              <a:srgbClr val="B49C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709160" y="544068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Speech recognition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6537960" y="5440680"/>
            <a:ext cx="1737360" cy="685800"/>
          </a:xfrm>
          <a:prstGeom prst="roundRect">
            <a:avLst>
              <a:gd name="adj" fmla="val 10667"/>
            </a:avLst>
          </a:prstGeom>
          <a:ln w="15875">
            <a:solidFill>
              <a:srgbClr val="B49C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537960" y="544068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Language processing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8366760" y="5440680"/>
            <a:ext cx="1737360" cy="685800"/>
          </a:xfrm>
          <a:prstGeom prst="roundRect">
            <a:avLst>
              <a:gd name="adj" fmla="val 10667"/>
            </a:avLst>
          </a:prstGeom>
          <a:ln w="15875">
            <a:solidFill>
              <a:srgbClr val="B49CF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366760" y="544068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Text-to-speech</a:t>
            </a:r>
            <a:endParaRPr lang="en-US" sz="1600" dirty="0"/>
          </a:p>
        </p:txBody>
      </p:sp>
      <p:sp>
        <p:nvSpPr>
          <p:cNvPr id="43" name="Shape 36"/>
          <p:cNvSpPr/>
          <p:nvPr/>
        </p:nvSpPr>
        <p:spPr>
          <a:xfrm>
            <a:off x="4389120" y="4023360"/>
            <a:ext cx="0" cy="100584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 flipV="1">
            <a:off x="8138160" y="4023360"/>
            <a:ext cx="0" cy="100584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6537960" y="4206240"/>
            <a:ext cx="0" cy="822960"/>
          </a:xfrm>
          <a:prstGeom prst="line">
            <a:avLst/>
          </a:prstGeom>
          <a:noFill/>
          <a:ln w="38100">
            <a:solidFill>
              <a:srgbClr val="2DD4BF"/>
            </a:solidFill>
            <a:prstDash val="dash"/>
            <a:tailEnd type="triangle"/>
          </a:ln>
        </p:spPr>
      </p:sp>
      <p:sp>
        <p:nvSpPr>
          <p:cNvPr id="46" name="Text 39"/>
          <p:cNvSpPr txBox="1"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1C6"/>
                </a:solidFill>
              </a:rPr>
              <a:t>Solid: communication flow    Dashed: configuration and control</a:t>
            </a:r>
            <a:endParaRPr lang="en-US" sz="16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Deliberate design decisions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40080" y="1536192"/>
            <a:ext cx="4206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Adaptive routing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536192"/>
            <a:ext cx="6583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The path adapts to sender and receiver requirements.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40080" y="2496312"/>
            <a:ext cx="4206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Specialized transformations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96312"/>
            <a:ext cx="6583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Each modality uses an appropriate component.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40080" y="3456432"/>
            <a:ext cx="4206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Profile retrieval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456432"/>
            <a:ext cx="6583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User configuration supports routing and instructions.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40080" y="4416552"/>
            <a:ext cx="4206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1C6"/>
                </a:solidFill>
              </a:rPr>
              <a:t>Not RAG-first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416552"/>
            <a:ext cx="6583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Large-scale RAG is not the core of the system.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30352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0080" y="5376672"/>
            <a:ext cx="42062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Semantic preservation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5376672"/>
            <a:ext cx="6583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Meaning must be preserved and explicitly evaluated.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What we are actually building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356616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PROTOTYPE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Committed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35661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Website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Simple user profile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Basic adaptive routing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One simple ML component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Integrated communication flow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3566160" cy="6400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</a:rPr>
              <a:t>ARCHITECTURE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Designed for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651760"/>
            <a:ext cx="35661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Multiple modalities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Multiple transformation components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Not all implemented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566160" cy="64008"/>
          </a:xfrm>
          <a:prstGeom prst="rect">
            <a:avLst/>
          </a:prstGeom>
          <a:solidFill>
            <a:srgbClr val="A3B1C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3816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1C6"/>
                </a:solidFill>
              </a:rPr>
              <a:t>FUTURE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103120"/>
            <a:ext cx="3566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Possibilities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651760"/>
            <a:ext cx="356616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More modalities and models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Browser or application extension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Standalone or mobile ecosystem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Not production software: simplified security, small data, basic models.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Development roadmap: five stages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28800"/>
            <a:ext cx="104241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B1220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FOUNDATION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80360"/>
            <a:ext cx="21031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Problem scenarios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Data understanding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Architecture contract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80360" y="1554480"/>
            <a:ext cx="548640" cy="548640"/>
          </a:xfrm>
          <a:prstGeom prst="ellipse">
            <a:avLst/>
          </a:prstGeom>
          <a:solidFill>
            <a:srgbClr val="0B1220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0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COMPONENTS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2880360"/>
            <a:ext cx="21031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Web skeleton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Sign-recognition model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Language and speech trials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120640" y="1554480"/>
            <a:ext cx="548640" cy="548640"/>
          </a:xfrm>
          <a:prstGeom prst="ellipse">
            <a:avLst/>
          </a:prstGeom>
          <a:solidFill>
            <a:srgbClr val="2DD4BF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01C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INTEGRATION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880360"/>
            <a:ext cx="21031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Inference interface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Profile retrieval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Adaptive routing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60920" y="1554480"/>
            <a:ext cx="548640" cy="548640"/>
          </a:xfrm>
          <a:prstGeom prst="ellipse">
            <a:avLst/>
          </a:prstGeom>
          <a:solidFill>
            <a:srgbClr val="0B1220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EVALUATION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880360"/>
            <a:ext cx="21031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Functional testing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Communication quality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Refinement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01200" y="1554480"/>
            <a:ext cx="548640" cy="548640"/>
          </a:xfrm>
          <a:prstGeom prst="ellipse">
            <a:avLst/>
          </a:prstGeom>
          <a:solidFill>
            <a:srgbClr val="0B1220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PROTOTYPE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880360"/>
            <a:ext cx="21031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Integrated website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End-to-end demo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</a:rPr>
              <a:t>Limits and next steps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1C6"/>
                </a:solidFill>
              </a:rPr>
              <a:t>Ordered by dependency, not dates. The earlier ML learning exercise is separate from these stages.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Parallel work around a shared spine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3291840" cy="548640"/>
          </a:xfrm>
          <a:prstGeom prst="roundRect">
            <a:avLst>
              <a:gd name="adj" fmla="val 13333"/>
            </a:avLst>
          </a:prstGeom>
          <a:ln w="15875">
            <a:solidFill>
              <a:srgbClr val="A3B1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Frontend prototype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3291840" cy="548640"/>
          </a:xfrm>
          <a:prstGeom prst="roundRect">
            <a:avLst>
              <a:gd name="adj" fmla="val 13333"/>
            </a:avLst>
          </a:prstGeom>
          <a:ln w="15875">
            <a:solidFill>
              <a:srgbClr val="A3B1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Backend skeleton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779776"/>
            <a:ext cx="3291840" cy="548640"/>
          </a:xfrm>
          <a:prstGeom prst="roundRect">
            <a:avLst>
              <a:gd name="adj" fmla="val 13333"/>
            </a:avLst>
          </a:prstGeom>
          <a:ln w="15875">
            <a:solidFill>
              <a:srgbClr val="A3B1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79776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Data and ML experiments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3291840" cy="548640"/>
          </a:xfrm>
          <a:prstGeom prst="roundRect">
            <a:avLst>
              <a:gd name="adj" fmla="val 13333"/>
            </a:avLst>
          </a:prstGeom>
          <a:ln w="15875">
            <a:solidFill>
              <a:srgbClr val="A3B1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438144"/>
            <a:ext cx="3291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</a:rPr>
              <a:t>Interface design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1920" y="2468880"/>
            <a:ext cx="822960" cy="0"/>
          </a:xfrm>
          <a:prstGeom prst="line">
            <a:avLst/>
          </a:prstGeom>
          <a:noFill/>
          <a:ln w="31750">
            <a:solidFill>
              <a:srgbClr val="A3B1C6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54880" y="21031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DD4BF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01C"/>
                </a:solidFill>
              </a:rPr>
              <a:t>Integration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2468880"/>
            <a:ext cx="640080" cy="0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2103120"/>
            <a:ext cx="1828800" cy="731520"/>
          </a:xfrm>
          <a:prstGeom prst="roundRect">
            <a:avLst>
              <a:gd name="adj" fmla="val 10000"/>
            </a:avLst>
          </a:prstGeom>
          <a:ln w="22225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Evaluation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468880"/>
            <a:ext cx="640080" cy="0"/>
          </a:xfrm>
          <a:prstGeom prst="line">
            <a:avLst/>
          </a:prstGeom>
          <a:noFill/>
          <a:ln w="38100">
            <a:solidFill>
              <a:srgbClr val="F1F5F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92640" y="2103120"/>
            <a:ext cx="1828800" cy="731520"/>
          </a:xfrm>
          <a:prstGeom prst="roundRect">
            <a:avLst>
              <a:gd name="adj" fmla="val 10000"/>
            </a:avLst>
          </a:prstGeom>
          <a:ln w="22225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9264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Prototype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017520"/>
            <a:ext cx="67665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B1C6"/>
                </a:solidFill>
              </a:rPr>
              <a:t>Dashed: partial dependency    Solid: strong dependency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01C"/>
                </a:solidFill>
              </a:rPr>
              <a:t>SHARED SPINE: message contract · backend communication · routing abstraction · inference interface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Six people, shared knowledge, rotating assignments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Tasks are temporary, not identities. Each stage keeps written context so any member can join it.</a:t>
            </a:r>
            <a:endParaRPr lang="en-US" sz="2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Prototype demonstration (conceptual mockup)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17320"/>
            <a:ext cx="10515600" cy="4572000"/>
          </a:xfrm>
          <a:prstGeom prst="roundRect">
            <a:avLst>
              <a:gd name="adj" fmla="val 1600"/>
            </a:avLst>
          </a:prstGeom>
          <a:solidFill>
            <a:srgbClr val="1A2338"/>
          </a:solidFill>
          <a:ln w="15875">
            <a:solidFill>
              <a:srgbClr val="A3B1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solidFill>
            <a:srgbClr val="263249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545336"/>
            <a:ext cx="155448" cy="155448"/>
          </a:xfrm>
          <a:prstGeom prst="ellipse">
            <a:avLst/>
          </a:prstGeom>
          <a:solidFill>
            <a:srgbClr val="A3B1C6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1545336"/>
            <a:ext cx="155448" cy="155448"/>
          </a:xfrm>
          <a:prstGeom prst="ellipse">
            <a:avLst/>
          </a:prstGeom>
          <a:solidFill>
            <a:srgbClr val="A3B1C6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480" y="1545336"/>
            <a:ext cx="155448" cy="155448"/>
          </a:xfrm>
          <a:prstGeom prst="ellipse">
            <a:avLst/>
          </a:prstGeom>
          <a:solidFill>
            <a:srgbClr val="A3B1C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CONCEPTUAL MOCKUP · NOT IMPLEMENTED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057400"/>
            <a:ext cx="548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Sender input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057400"/>
            <a:ext cx="62179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Speech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17520"/>
            <a:ext cx="548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2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017520"/>
            <a:ext cx="3108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Detected modality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017520"/>
            <a:ext cx="62179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Speech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977640"/>
            <a:ext cx="548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3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3977640"/>
            <a:ext cx="3108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Routing decision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977640"/>
            <a:ext cx="62179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D4BF"/>
                </a:solidFill>
              </a:rPr>
              <a:t>Speech recognition → Language processing → Text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937760"/>
            <a:ext cx="548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Receiver output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4937760"/>
            <a:ext cx="62179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Text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B1C6"/>
                </a:solidFill>
              </a:rPr>
              <a:t>What the user would see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Evaluation criteria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260604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ROUTING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68880"/>
            <a:ext cx="26060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Was the correct pathway selected?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606040" cy="64008"/>
          </a:xfrm>
          <a:prstGeom prst="rect">
            <a:avLst/>
          </a:prstGeom>
          <a:solidFill>
            <a:srgbClr val="B49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49CFF"/>
                </a:solidFill>
              </a:rPr>
              <a:t>TRANSFORMATION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468880"/>
            <a:ext cx="26060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Does each transformation work correctly?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640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</a:rPr>
              <a:t>SEMANTIC PRESERVATION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468880"/>
            <a:ext cx="26060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Negation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Names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Numbers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Dates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Locations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F1F5F9"/>
                </a:solidFill>
              </a:rPr>
              <a:t>Actions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06840" y="1463040"/>
            <a:ext cx="2606040" cy="6400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06840" y="1645920"/>
            <a:ext cx="2606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</a:rPr>
              <a:t>END TO END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468880"/>
            <a:ext cx="26060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</a:rPr>
              <a:t>Can the receiver understand the intended message?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Criteria, not results: no metrics have been established yet.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Scope and future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744200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109960" y="621792"/>
            <a:ext cx="256032" cy="256032"/>
          </a:xfrm>
          <a:prstGeom prst="hexagon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749808"/>
            <a:ext cx="18288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548872" y="658368"/>
            <a:ext cx="182880" cy="182880"/>
          </a:xfrm>
          <a:prstGeom prst="ellipse">
            <a:avLst/>
          </a:prstGeom>
          <a:ln w="22225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DD4BF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554480"/>
            <a:ext cx="2926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201C"/>
                </a:solidFill>
              </a:rPr>
              <a:t>NOW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554480"/>
            <a:ext cx="74066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201C"/>
                </a:solidFill>
              </a:rPr>
              <a:t>Website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6201C"/>
                </a:solidFill>
              </a:rPr>
              <a:t>Current implementation target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0760" y="2834640"/>
            <a:ext cx="0" cy="32004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154680"/>
            <a:ext cx="10881360" cy="1280160"/>
          </a:xfrm>
          <a:prstGeom prst="roundRect">
            <a:avLst>
              <a:gd name="adj" fmla="val 5714"/>
            </a:avLst>
          </a:prstGeom>
          <a:ln w="22225">
            <a:solidFill>
              <a:srgbClr val="A3B1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154680"/>
            <a:ext cx="2926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POSSIBLE NEXT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154680"/>
            <a:ext cx="74066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Browser or application extension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Only if the project matures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80760" y="4434840"/>
            <a:ext cx="0" cy="320040"/>
          </a:xfrm>
          <a:prstGeom prst="line">
            <a:avLst/>
          </a:prstGeom>
          <a:noFill/>
          <a:ln w="25400">
            <a:solidFill>
              <a:srgbClr val="A3B1C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4754880"/>
            <a:ext cx="10881360" cy="1280160"/>
          </a:xfrm>
          <a:prstGeom prst="roundRect">
            <a:avLst>
              <a:gd name="adj" fmla="val 5714"/>
            </a:avLst>
          </a:prstGeom>
          <a:ln w="22225">
            <a:solidFill>
              <a:srgbClr val="A3B1C6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14400" y="4754880"/>
            <a:ext cx="2926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B1C6"/>
                </a:solidFill>
              </a:rPr>
              <a:t>FUTURE VISION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4754880"/>
            <a:ext cx="74066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B1C6"/>
                </a:solidFill>
              </a:rPr>
              <a:t>Standalone or mobile ecosystem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3B1C6"/>
                </a:solidFill>
              </a:rPr>
              <a:t>Long-term direction, not a commitment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A3B1C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">
  <a:themeElements>
    <a:clrScheme name="Path">
      <a:dk1>
        <a:srgbClr val="0B1220"/>
      </a:dk1>
      <a:lt1>
        <a:srgbClr val="F1F5F9"/>
      </a:lt1>
      <a:dk2>
        <a:srgbClr val="1A2338"/>
      </a:dk2>
      <a:lt2>
        <a:srgbClr val="A3B1C6"/>
      </a:lt2>
      <a:accent1>
        <a:srgbClr val="2DD4BF"/>
      </a:accent1>
      <a:accent2>
        <a:srgbClr val="60A5FA"/>
      </a:accent2>
      <a:accent3>
        <a:srgbClr val="B49CFF"/>
      </a:accent3>
      <a:accent4>
        <a:srgbClr val="A3B1C6"/>
      </a:accent4>
      <a:accent5>
        <a:srgbClr val="1A2338"/>
      </a:accent5>
      <a:accent6>
        <a:srgbClr val="F1F5F9"/>
      </a:accent6>
      <a:hlink>
        <a:srgbClr val="2DD4BF"/>
      </a:hlink>
      <a:folHlink>
        <a:srgbClr val="A3B1C6"/>
      </a:folHlink>
    </a:clrScheme>
    <a:fontScheme name="Pat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2026-10-06T19:30:05Z</dcterms:created>
  <dcterms:modified xsi:type="dcterms:W3CDTF">2026-10-06T19:30:05Z</dcterms:modified>
</cp:coreProperties>
</file>